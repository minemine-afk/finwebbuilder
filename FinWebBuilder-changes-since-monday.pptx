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1C1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81C1E"/>
                </a:solidFill>
                <a:latin typeface="+mn-lt"/>
              </a:rPr>
              <a:t>Options in each first build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Options or lines</c:v>
                </c:pt>
              </c:strCache>
            </c:strRef>
          </c:tx>
          <c:spPr>
            <a:solidFill>
              <a:srgbClr val="0067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1C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E-bike</c:v>
                  </c:pt>
                  <c:pt idx="1">
                    <c:v>JB transport</c:v>
                  </c:pt>
                  <c:pt idx="2">
                    <c:v>Wedding venue</c:v>
                  </c:pt>
                  <c:pt idx="3">
                    <c:v>Baby cost</c:v>
                  </c:pt>
                  <c:pt idx="4">
                    <c:v>Pokémon cards</c:v>
                  </c:pt>
                  <c:pt idx="5">
                    <c:v>HDB renovation</c:v>
                  </c:pt>
                  <c:pt idx="6">
                    <c:v>Property value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16</c:v>
                </c:pt>
                <c:pt idx="4">
                  <c:v>90</c:v>
                </c:pt>
                <c:pt idx="5">
                  <c:v>59</c:v>
                </c:pt>
                <c:pt idx="6">
                  <c:v>169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81C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1C1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81C1E"/>
                </a:solidFill>
                <a:latin typeface="+mn-lt"/>
              </a:rPr>
              <a:t>Estimated at published token and search prices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S$ per first build</c:v>
                </c:pt>
              </c:strCache>
            </c:strRef>
          </c:tx>
          <c:spPr>
            <a:solidFill>
              <a:srgbClr val="006781"/>
            </a:solidFill>
            <a:effectLst/>
          </c:spPr>
          <c:invertIfNegative val="0"/>
          <c:dLbls>
            <c:numFmt formatCode="&quot;S$&quot;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1C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E-bike</c:v>
                  </c:pt>
                  <c:pt idx="1">
                    <c:v>JB transport</c:v>
                  </c:pt>
                  <c:pt idx="2">
                    <c:v>Wedding venue</c:v>
                  </c:pt>
                  <c:pt idx="3">
                    <c:v>Baby cost</c:v>
                  </c:pt>
                  <c:pt idx="4">
                    <c:v>100 Pokémon cards</c:v>
                  </c:pt>
                  <c:pt idx="5">
                    <c:v>Property value</c:v>
                  </c:pt>
                  <c:pt idx="6">
                    <c:v>HDB renovation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1.81</c:v>
                </c:pt>
                <c:pt idx="1">
                  <c:v>1.36</c:v>
                </c:pt>
                <c:pt idx="2">
                  <c:v>2.52</c:v>
                </c:pt>
                <c:pt idx="3">
                  <c:v>3.02</c:v>
                </c:pt>
                <c:pt idx="4">
                  <c:v>3.43</c:v>
                </c:pt>
                <c:pt idx="5">
                  <c:v>7.19</c:v>
                </c:pt>
                <c:pt idx="6">
                  <c:v>12.8</c:v>
                </c:pt>
              </c:numCache>
            </c:numRef>
          </c:val>
        </c:ser>
        <c:dLbls>
          <c:numFmt formatCode="&quot;S$&quot;0.00" sourceLinked="0"/>
          <c:txPr>
            <a:bodyPr/>
            <a:lstStyle/>
            <a:p>
              <a:pPr>
                <a:defRPr b="0" i="0" strike="noStrike" sz="1200" u="none">
                  <a:solidFill>
                    <a:srgbClr val="181C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Haiku page reading</c:v>
                </c:pt>
              </c:strCache>
            </c:strRef>
          </c:tx>
          <c:spPr>
            <a:solidFill>
              <a:srgbClr val="3F484D"/>
            </a:solidFill>
            <a:effectLst/>
          </c:spPr>
          <c:invertIfNegative val="0"/>
          <c:dLbls>
            <c:numFmt formatCode="&quot;S$&quot;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Opus research (measured)</c:v>
                  </c:pt>
                  <c:pt idx="1">
                    <c:v>Sonnet research (estimate)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2.76</c:v>
                </c:pt>
                <c:pt idx="1">
                  <c:v>2.76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 model</c:v>
                </c:pt>
              </c:strCache>
            </c:strRef>
          </c:tx>
          <c:spPr>
            <a:solidFill>
              <a:srgbClr val="006781"/>
            </a:solidFill>
            <a:effectLst/>
          </c:spPr>
          <c:invertIfNegative val="0"/>
          <c:dLbls>
            <c:numFmt formatCode="&quot;S$&quot;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Opus research (measured)</c:v>
                  </c:pt>
                  <c:pt idx="1">
                    <c:v>Sonnet research (estimate)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10.03</c:v>
                </c:pt>
                <c:pt idx="1">
                  <c:v>5.02</c:v>
                </c:pt>
              </c:numCache>
            </c:numRef>
          </c:val>
        </c:ser>
        <c:dLbls>
          <c:numFmt formatCode="&quot;S$&quot;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48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F484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26 to 28 October 2026. Figures come from the build logs stored in data/calculators/*.json and the pricing constants in lib/pricing.ts. Where a number is an estimate rather than measured, the slide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comparison: no identical topic was built twice. The earlier builds used Sonnet price-researcher sub-agents (.claude/agents/price-researcher.md, model: sonnet). PR #11 made Opus the default research model (workflow input research_model, default opus). The lead agent was already Opus on every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#12 state at the time of writing: open, mergeable state clean, created 28 Oct. Plan and Build workflows have not run with these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subscription has no per-token price, so any per-build subscription cost is an allocation of the monthly fee. The plan fees in the table are placeholders; replace with Kumar's actual plan price. Break-even assumes usage limits are not the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Recommendation: merge PR #12, then run one vague-prompt build to check scoping, the cost range and the quality check on GitHub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EA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EA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FINWEBBUILDER · CALCULATOR BUILDER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since Monday, and what it costs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Sonnet-era builds against Opus-level research builds, the improvements in PRs #10 to #12, and API against Claude Code subscription cost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· 28 Oct 2026 · Changes since Mon 26 Oct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EA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builds, per-option cost not higher</a:t>
            </a:r>
            <a:endParaRPr lang="en-US" sz="3200" dirty="0"/>
          </a:p>
        </p:txBody>
      </p:sp>
      <p:sp>
        <p:nvSpPr>
          <p:cNvPr id="3" name="stat card"/>
          <p:cNvSpPr/>
          <p:nvPr/>
        </p:nvSpPr>
        <p:spPr>
          <a:xfrm>
            <a:off x="548640" y="14630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in the property projection; builds on Mon–Tue had 5 to 90</a:t>
            </a:r>
            <a:endParaRPr lang="en-US" sz="1300" dirty="0"/>
          </a:p>
        </p:txBody>
      </p:sp>
      <p:sp>
        <p:nvSpPr>
          <p:cNvPr id="6" name="stat card"/>
          <p:cNvSpPr/>
          <p:nvPr/>
        </p:nvSpPr>
        <p:spPr>
          <a:xfrm>
            <a:off x="3383280" y="14630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provider price points in the renovation calculator (20 from archived pages)</a:t>
            </a:r>
            <a:endParaRPr lang="en-US" sz="1300" dirty="0"/>
          </a:p>
        </p:txBody>
      </p:sp>
      <p:sp>
        <p:nvSpPr>
          <p:cNvPr id="9" name="stat card"/>
          <p:cNvSpPr/>
          <p:nvPr/>
        </p:nvSpPr>
        <p:spPr>
          <a:xfrm>
            <a:off x="6217920" y="146304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S$12.80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build so far, the HDB renovation calculator (59 lines, 12 providers)</a:t>
            </a:r>
            <a:endParaRPr lang="en-US" sz="1300" dirty="0"/>
          </a:p>
        </p:txBody>
      </p:sp>
      <p:sp>
        <p:nvSpPr>
          <p:cNvPr id="12" name="stat card"/>
          <p:cNvSpPr/>
          <p:nvPr/>
        </p:nvSpPr>
        <p:spPr>
          <a:xfrm>
            <a:off x="9052560" y="146304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S$0.04–0.22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API-priced cost per option on the new builds, vs S$0.04–0.42 before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Opus-level research gave official data (HDB resale transactions, URA indices) and real dated price histories instead of single current prices.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#10 and #11 are merged. PR #12 (seven vague-prompt upgrades) is open and not yet run on GitHub Actions.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subscription covers every build at S$0 extra, but API prices show what the usage is worth. Plan fee comparison is an estimate.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data/calculators/*.json build logs; costs at lib/pricing.ts rates (SGD 1 = USD 0.78289).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Sonnet-researched vs Opus-researched builds</a:t>
            </a:r>
            <a:endParaRPr lang="en-US" sz="3200" dirty="0"/>
          </a:p>
        </p:txBody>
      </p:sp>
      <p:graphicFrame>
        <p:nvGraphicFramePr>
          <p:cNvPr id="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Sonnet-era builds (26–27 Oct)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Opus-level builds (28 Oct)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JB transport, e-bike, wedding venue, baby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 renovation cost, property value projection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 per calculator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to 16 (and 90 in the Pokémon-card build)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lines and 169 projected 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Providers with own price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renovation providers, 43 dated 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Archive-backed price 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(Internet Archive snapshots of provider pages)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official retailer or venue pages; no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 resale transactions (data.gov.sg), URA indices (SingStat)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Today’s price, verified on build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to 2026 yearly; property back to 2017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researches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sub-agents, Haiku reads pages, Opus writes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researches and writes; Haiku reads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not a controlled test. Topics differ, and the Opus lead wrote all builds; what changed on 28 Oct is who does the research, and the extra tools.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grew by an order of magnitude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ading card"/>
          <p:cNvSpPr/>
          <p:nvPr/>
        </p:nvSpPr>
        <p:spPr>
          <a:xfrm>
            <a:off x="7680960" y="1463040"/>
            <a:ext cx="3931920" cy="4389120"/>
          </a:xfrm>
          <a:prstGeom prst="roundRect">
            <a:avLst>
              <a:gd name="adj" fmla="val 1860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21488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five bars ran on Sonnet-researched sub-agents; the last two on the Opus research path.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value alone has 676 dated past prices, mostly from official data.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count is not automatically better; the quality check in PR #12 also tests sources and rationale.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Counts: items or lines arrays in each calculator’s JSON.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Opus-level research added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dated price histories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renovation providers carry 3 to 4 yearly prices each (43 points in total). Twenty come from archived provider pages found with the archive-prices tool.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data, not articles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945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 resale medians by town and flat type from data.gov.sg (about 244k sales since 2017) and URA private indices from SingStat.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7490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from history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26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prices compound the previous 3 years, the method you set. Low and high rates are the weakest and strongest of those years.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72200" y="37490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977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6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Reasons on hover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26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assumption has a written rationale: where the figure came from and how it was worked out.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hdb-renovation-cost.json, singapore-property-value.json, PR #11 and builder-data-tools notes.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pull requests of improvements</a:t>
            </a:r>
            <a:endParaRPr lang="en-US" sz="3200" dirty="0"/>
          </a:p>
        </p:txBody>
      </p:sp>
      <p:sp>
        <p:nvSpPr>
          <p:cNvPr id="3" name="pr card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" name="pr badge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Claude Code reports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 stores Claude Code’s own cost per model; every page shows it under our API estimate.</a:t>
            </a:r>
            <a:endParaRPr lang="en-US" sz="1400" dirty="0"/>
          </a:p>
        </p:txBody>
      </p:sp>
      <p:sp>
        <p:nvSpPr>
          <p:cNvPr id="9" name="pr card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0" name="pr badge"/>
          <p:cNvSpPr/>
          <p:nvPr/>
        </p:nvSpPr>
        <p:spPr>
          <a:xfrm>
            <a:off x="4572000" y="1737360"/>
            <a:ext cx="822960" cy="822960"/>
          </a:xfrm>
          <a:prstGeom prst="ellipse">
            <a:avLst/>
          </a:prstGeom>
          <a:solidFill>
            <a:srgbClr val="006781"/>
          </a:solidFill>
          <a:ln w="12700">
            <a:solidFill>
              <a:srgbClr val="0067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 search, Opus research, data tools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490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archive-prices tool, Opus as default research model, providers and filters, official data commands, two new calculators.</a:t>
            </a:r>
            <a:endParaRPr lang="en-US" sz="1400" dirty="0"/>
          </a:p>
        </p:txBody>
      </p:sp>
      <p:sp>
        <p:nvSpPr>
          <p:cNvPr id="15" name="pr card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16" name="pr badge"/>
          <p:cNvSpPr/>
          <p:nvPr/>
        </p:nvSpPr>
        <p:spPr>
          <a:xfrm>
            <a:off x="8321040" y="1737360"/>
            <a:ext cx="822960" cy="8229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not merged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Vague-prompt upgrades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7490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changes so short topics still build well: scoping, kind pick, cost preview, playbooks, quality check, chat refine, price cache.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#12: 22 files changed, 66 tests pass locally; the workflows can only be exercised on GitHub, so it is unverified there.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change makes a better build</a:t>
            </a:r>
            <a:endParaRPr lang="en-US" sz="3200" dirty="0"/>
          </a:p>
        </p:txBody>
      </p:sp>
      <p:graphicFrame>
        <p:nvGraphicFramePr>
          <p:cNvPr id="8" name="improve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build improves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 Claude Code cost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reported cost beside our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can be checked: S$12.51 reported vs S$12.80 estimated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#11 Archive price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dated snapshots of provider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price histories instead of one current figure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#11 Opus research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replaces Sonnet sub-agents for research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sources and conflicts resolved; costlier per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 Scope-first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asks up to 2 questions or proposes a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topics get the intended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 Auto kind + cost preview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compare, estimate or projection; shows a cost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template first time; no surprise bill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 Playbooks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Checklists and official sources by 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missed items and weaker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 Quality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Counts, sources, dates, rationale, maths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builds are fixed, not published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 Chat refine, price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edits; reuse prices under 180 days 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Cheaper follow-ups and similar topics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 benefits are the design intent. They are untested in production until it is merged and run.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first build cost at API prices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st card"/>
          <p:cNvSpPr/>
          <p:nvPr/>
        </p:nvSpPr>
        <p:spPr>
          <a:xfrm>
            <a:off x="7772400" y="1463040"/>
            <a:ext cx="3840480" cy="4389120"/>
          </a:xfrm>
          <a:prstGeom prst="roundRect">
            <a:avLst>
              <a:gd name="adj" fmla="val 1905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option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14884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era: S$0.04 (Pokémon cards, 90 items) to S$0.42 (wedding)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 renovation: S$0.22 per 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value: S$0.04 per item, as official data costs few tokens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edits: S$0.09 to S$0.20 (JB), vs S$1.36 first build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token counts from each build log; SGD price is our estimate. The Pokémon build had 4 later refinements (S$9.0 more).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against Claude Code subscription</a:t>
            </a:r>
            <a:endParaRPr lang="en-US" sz="3200" dirty="0"/>
          </a:p>
        </p:txBody>
      </p:sp>
      <p:graphicFrame>
        <p:nvGraphicFramePr>
          <p:cNvPr id="10" name="api vs subscrip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3891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per use (API key)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subscription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S$1.4 to S$12.8 at API prices, billed every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S$0 extra; draws on plan usage limits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shown on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estimate from tokens and searches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Estimate, plus the figure Claude Code reports (since PR #10)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of the estimate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S$12.80 estimated vs S$12.51 reported (HDB); S$7.19 vs S$6.95 (property)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two checks: our estimate ran 2% to 3% 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grows with every build; budget cap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 plan limits rather than a bill; large builds use more of them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Scoping step in PR #12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direct Haiku call if ANTHROPIC_API_KEY is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through a Plan workflow using the OAuth 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figures exist only for the two 28 Oct builds. Earlier builds have estimates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Estimates: same builds, two ways to pay</a:t>
            </a:r>
            <a:endParaRPr lang="en-US" sz="3200" dirty="0"/>
          </a:p>
        </p:txBody>
      </p:sp>
      <p:sp>
        <p:nvSpPr>
          <p:cNvPr id="3" name="scenario a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HDB renovation, Sonnet or Opus research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1168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5166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bars assume identical token counts, priced at Sonnet’s half rate: S$7.78 vs S$12.80. In practice Sonnet may need retries, and the quality gap is the reason for the switch.</a:t>
            </a:r>
            <a:endParaRPr lang="en-US" sz="1200" dirty="0"/>
          </a:p>
        </p:txBody>
      </p:sp>
      <p:sp>
        <p:nvSpPr>
          <p:cNvPr id="7" name="scenario b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EF1F3"/>
          </a:solidFill>
          <a:ln w="12700">
            <a:solidFill>
              <a:srgbClr val="EEF1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builds does a plan cover?</a:t>
            </a:r>
            <a:endParaRPr lang="en-US" sz="1800" dirty="0"/>
          </a:p>
        </p:txBody>
      </p:sp>
      <p:graphicFrame>
        <p:nvGraphicFramePr>
          <p:cNvPr id="11" name="break-eve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03120"/>
          <a:ext cx="48463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plan fee (example)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builds (S$12.80)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builds (S$2)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8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S$260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92240" y="41148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builds per month = plan fee ÷ API cost per build. The fees are placeholders, not your plan’s price. A plan-fee share per build was rejected earlier, so pages do not show one.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Estimates, not measurements, apart from the S$12.80 and S$2.76 / S$10.03 figures.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research is worth its cost; merge #12 and test it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Opus-level research turned one-price comparisons into dated, sourced, history-based calculators, and per-option cost stayed inside the earlier S$0.04 to S$0.42 range.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subscription absorbs the S$1.4 to S$12.8 per build; API-priced figures stay as the yardstick, and Claude Code’s own number tracks ours within 3%.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#12 should reduce wasted builds on vague prompts, but it is open and unproven on GitHub Actions. Next: merge, run a vague-topic build, compare its S$ range with the real cost.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EA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1F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and sources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(lib/pricing.ts, checked 27 Oct): Opus 5.5 $4 / $20, Sonnet 5.5 $2 / $10, Haiku 5.5 $0.10 / $0.50 per million tokens; cache reads 10%, cache writes 125%; web search $10 per 1,000.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SGD 1 = USD 0.78289 (ECB, 29 Sep 2026).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token counts and searches in each build log; Claude Code’s reported cost for the two 28 Oct builds.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Estimated: every S$ figure other than reported ones, the Sonnet-research scenario, and the plan break-even table.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limits: different topics, one build each, and the Opus lead wrote every build.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8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#12 effects are design intent; the PR is open and its workflows have not run.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484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exis builder">
  <a:themeElements>
    <a:clrScheme name="Finexis builder">
      <a:dk1>
        <a:srgbClr val="181C1E"/>
      </a:dk1>
      <a:lt1>
        <a:srgbClr val="FFFFFF"/>
      </a:lt1>
      <a:dk2>
        <a:srgbClr val="001F29"/>
      </a:dk2>
      <a:lt2>
        <a:srgbClr val="EEF1F3"/>
      </a:lt2>
      <a:accent1>
        <a:srgbClr val="006781"/>
      </a:accent1>
      <a:accent2>
        <a:srgbClr val="B9EAFF"/>
      </a:accent2>
      <a:accent3>
        <a:srgbClr val="2F6377"/>
      </a:accent3>
      <a:accent4>
        <a:srgbClr val="C2410C"/>
      </a:accent4>
      <a:accent5>
        <a:srgbClr val="3F484D"/>
      </a:accent5>
      <a:accent6>
        <a:srgbClr val="D5DADD"/>
      </a:accent6>
      <a:hlink>
        <a:srgbClr val="006781"/>
      </a:hlink>
      <a:folHlink>
        <a:srgbClr val="2F6377"/>
      </a:folHlink>
    </a:clrScheme>
    <a:fontScheme name="Finexis build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FinWebBuilder: changes since Monday</dc:title>
  <dc:subject>PptxGenJS Presentation</dc:subject>
  <dc:creator>Claude for Kumar</dc:creator>
  <cp:lastModifiedBy>Claude for Kumar</cp:lastModifiedBy>
  <cp:revision>1</cp:revision>
  <dcterms:created xsi:type="dcterms:W3CDTF">2026-10-28T15:41:24Z</dcterms:created>
  <dcterms:modified xsi:type="dcterms:W3CDTF">2026-10-28T15:41:24Z</dcterms:modified>
</cp:coreProperties>
</file>