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1C1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81C1E"/>
                </a:solidFill>
                <a:latin typeface="+mn-lt"/>
              </a:rPr>
              <a:t>Options in each first build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Options or lines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E-bike</c:v>
                  </c:pt>
                  <c:pt idx="1">
                    <c:v>JB transport</c:v>
                  </c:pt>
                  <c:pt idx="2">
                    <c:v>Wedding venue</c:v>
                  </c:pt>
                  <c:pt idx="3">
                    <c:v>Baby cost</c:v>
                  </c:pt>
                  <c:pt idx="4">
                    <c:v>Pokémon cards</c:v>
                  </c:pt>
                  <c:pt idx="5">
                    <c:v>HDB renovation</c:v>
                  </c:pt>
                  <c:pt idx="6">
                    <c:v>Property value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16</c:v>
                </c:pt>
                <c:pt idx="4">
                  <c:v>90</c:v>
                </c:pt>
                <c:pt idx="5">
                  <c:v>59</c:v>
                </c:pt>
                <c:pt idx="6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S$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&quot;S$&quot;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Claude Code billed to an API key</c:v>
                  </c:pt>
                  <c:pt idx="1">
                    <c:v>On the plan: high case (55M weekly tokens)</c:v>
                  </c:pt>
                  <c:pt idx="2">
                    <c:v>On the plan: mid case (110M)</c:v>
                  </c:pt>
                  <c:pt idx="3">
                    <c:v>On the plan: low case (220M)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12.8</c:v>
                </c:pt>
                <c:pt idx="1">
                  <c:v>4.6</c:v>
                </c:pt>
                <c:pt idx="2">
                  <c:v>2.3</c:v>
                </c:pt>
                <c:pt idx="3">
                  <c:v>1.15</c:v>
                </c:pt>
              </c:numCache>
            </c:numRef>
          </c:val>
        </c:ser>
        <c:dLbls>
          <c:numFmt formatCode="&quot;S$&quot;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work from 26 to 28 October 2026. Figures come from the build logs stored with each calculator and the price constants in lib/pricing.ts. Where a number is an estimate rather than measured, the slide says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identical topic was built twice. The earlier builds used Sonnet price-researcher sub-agents. Opus became the default research model on 28 Oct. The lead agent was already Opus on every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cost estimator in lib/plan.ts uses base S$0.60 + S$0.40 per new item on Opus + S$0.08 per cached item, with a low to high range of 0.7x to 1.5x the midpoint. For 59 items that gives S$16.9 to S$36.3 against the measured S$12.80. Build time for the large builds was not logged; the earlier small builds took 4 to 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share method: S$130 per month divided by 4 gives S$32.50 per week. The build used 7,776,549 tokens (Haiku 3.26M input and 0.23M output; Opus 0.54M cache writes, 3.55M cache reads, 0.19M output). Anthropic publishes no weekly token cap for the plan, so three caps are assumed: 55M, 110M and 220M tokens. Cost = tokens used / cap x S$32.50, which gives S$4.60, S$2.30 and S$1.15. All tokens are counted equally; a plan may weigh Opus and cached tokens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FINWEBBUILDER · CALCULATOR BUILDER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 made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Sonnet-era builds against Opus-level research builds, the new additions and what they save, and the cost of the HDB renovation build on Claude Code against the API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Kumar · 29 Oct 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builds, per-option cost not higher</a:t>
            </a:r>
            <a:endParaRPr lang="en-US" sz="3200" dirty="0"/>
          </a:p>
        </p:txBody>
      </p:sp>
      <p:sp>
        <p:nvSpPr>
          <p:cNvPr id="3" name="stat card"/>
          <p:cNvSpPr/>
          <p:nvPr/>
        </p:nvSpPr>
        <p:spPr>
          <a:xfrm>
            <a:off x="54864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in the property projection; builds on Mon–Tue had 5 to 90</a:t>
            </a:r>
            <a:endParaRPr lang="en-US" sz="1300" dirty="0"/>
          </a:p>
        </p:txBody>
      </p:sp>
      <p:sp>
        <p:nvSpPr>
          <p:cNvPr id="6" name="stat card"/>
          <p:cNvSpPr/>
          <p:nvPr/>
        </p:nvSpPr>
        <p:spPr>
          <a:xfrm>
            <a:off x="338328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 provider price points in the renovation calculator (20 from archived pages)</a:t>
            </a:r>
            <a:endParaRPr lang="en-US" sz="1300" dirty="0"/>
          </a:p>
        </p:txBody>
      </p:sp>
      <p:sp>
        <p:nvSpPr>
          <p:cNvPr id="9" name="stat card"/>
          <p:cNvSpPr/>
          <p:nvPr/>
        </p:nvSpPr>
        <p:spPr>
          <a:xfrm>
            <a:off x="621792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S$12.80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build so far, the HDB renovation calculator (59 lines, 12 providers)</a:t>
            </a:r>
            <a:endParaRPr lang="en-US" sz="1300" dirty="0"/>
          </a:p>
        </p:txBody>
      </p:sp>
      <p:sp>
        <p:nvSpPr>
          <p:cNvPr id="12" name="stat card"/>
          <p:cNvSpPr/>
          <p:nvPr/>
        </p:nvSpPr>
        <p:spPr>
          <a:xfrm>
            <a:off x="9052560" y="146304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S$0.04–0.22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API-priced cost per option on the new builds, vs S$0.04–0.42 before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65760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Opus-level research gave official data (HDB resale transactions, URA indices) and real dated price histories instead of single current prices.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additions: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page templates, a price cache, scope preview, playbooks, a quality check and cheap Sonnet edits cut repeated work and surprise cost.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S$130 a month plan the HDB build is an estimated S$2.30 (range S$1.15 to S$4.60) of plan allowance; billed to an API key it is S$12.80 (Claude Code reported S$12.51).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calculator build logs; costs at lib/pricing.ts rates (SGD 1 = USD 0.78289).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Sonnet-researched vs Opus-researched builds</a:t>
            </a:r>
            <a:endParaRPr lang="en-US" sz="3200" dirty="0"/>
          </a:p>
        </p:txBody>
      </p:sp>
      <p:graphicFrame>
        <p:nvGraphicFramePr>
          <p:cNvPr id="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F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Sonnet-era builds (26–27 Oct)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Opus-level builds (28 Oct)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JB transport, e-bike, wedding venue, baby cost, Pokémon cards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renovation cost, property value projection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per calculator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to 16 (and 90 in the Pokémon-card build)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lines and 169 projected items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Providers with own price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renovation providers, 43 dated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Archive-backed price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(Internet Archive snapshots of provider pages)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official retailer or venue pages; no datasets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resale transactions (data.gov.sg), URA indices (SingStat)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Dated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Today’s price, verified on build 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to 2026 yearly; property back to 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researches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sub-agents, Haiku reads pages, Opus 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researches and writes; Haiku reads pages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not a controlled test. Topics differ, and the Opus lead wrote all builds; what changed on 28 Oct is who does the research, and the extra tools.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grew by an order of magnitude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eading card"/>
          <p:cNvSpPr/>
          <p:nvPr/>
        </p:nvSpPr>
        <p:spPr>
          <a:xfrm>
            <a:off x="7680960" y="1463040"/>
            <a:ext cx="3931920" cy="4389120"/>
          </a:xfrm>
          <a:prstGeom prst="roundRect">
            <a:avLst>
              <a:gd name="adj" fmla="val 1860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4884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five bars ran on Sonnet-researched sub-agents; the last two on the Opus research path.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value alone has 676 dated past prices, mostly from official data.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count is not automatically better; the quality check also tests sources and rationale.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Counts: items or lines arrays in each calculator’s JSON.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rounds of improvements</a:t>
            </a:r>
            <a:endParaRPr lang="en-US" sz="3200" dirty="0"/>
          </a:p>
        </p:txBody>
      </p:sp>
      <p:sp>
        <p:nvSpPr>
          <p:cNvPr id="3" name="round card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round badge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transparency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Code’s reported cost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log keeps the cost Claude Code reports per model; every page shows it under our API estimate.</a:t>
            </a:r>
            <a:endParaRPr lang="en-US" sz="1400" dirty="0"/>
          </a:p>
        </p:txBody>
      </p:sp>
      <p:sp>
        <p:nvSpPr>
          <p:cNvPr id="9" name="round card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round badge"/>
          <p:cNvSpPr/>
          <p:nvPr/>
        </p:nvSpPr>
        <p:spPr>
          <a:xfrm>
            <a:off x="457200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depth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 search, Opus research, data tools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archive-prices tool, Opus as default research model, providers and filters, official data commands, two new calculators.</a:t>
            </a:r>
            <a:endParaRPr lang="en-US" sz="1400" dirty="0"/>
          </a:p>
        </p:txBody>
      </p:sp>
      <p:sp>
        <p:nvSpPr>
          <p:cNvPr id="15" name="round card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6" name="round badge"/>
          <p:cNvSpPr/>
          <p:nvPr/>
        </p:nvSpPr>
        <p:spPr>
          <a:xfrm>
            <a:off x="832104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prompts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Scope-first upgrades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changes so short topics still build well: scoping, kind pick, cost preview, playbooks, quality check, chat refine, price cache. Now live on main.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is live on main, but its first full runs on GitHub have not been reviewed here, so its gains are design intent.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each change makes a better build</a:t>
            </a:r>
            <a:endParaRPr lang="en-US" sz="3200" dirty="0"/>
          </a:p>
        </p:txBody>
      </p:sp>
      <p:graphicFrame>
        <p:nvGraphicFramePr>
          <p:cNvPr id="7" name="improvemen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297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 build improves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cost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reported cost beside our estimate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Estimates can be checked: S$12.51 reported vs S$12.80 estimated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 price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dated snapshots of provider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price histories instead of one current figure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research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replaces Sonnet sub-agents for research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 sources and conflicts resolved; costlier per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Scope-first questions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asks up to 2 questions or proposes a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topics get the intended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kind and cost preview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compare, estimate or projection; shows a cost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template first time; no surprise bill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Checklists and official sources by topic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missed items and weaker 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Counts, sources, dates, rationale, maths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Failing builds are fixed, not published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refine, price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edits; reuse prices under 180 days 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follow-ups and similar topics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Scope-first, playbook and quality-check benefits are design intent until measured on real runs.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additions that cut time and cost</a:t>
            </a:r>
            <a:endParaRPr lang="en-US" sz="3200" dirty="0"/>
          </a:p>
        </p:txBody>
      </p:sp>
      <p:graphicFrame>
        <p:nvGraphicFramePr>
          <p:cNvPr id="8" name="addition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saves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page templates (compare, estimate, projection)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layout and maths live in shared templates and engines. The agent writes only a data file (about 187k Opus output tokens, S$4.77, for the 59-line HDB build) and no page code.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tokens; time saved not logged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data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resale and URA index figures come from data commands, not page reading: S$0.04 per property item against S$0.22 per renovation line.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cache (237 entries)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Prices verified in the last 180 days are reused. The cost preview prices a reused item at S$0.08 against S$0.40 new. Research is 22% of the HDB build (S$2.76).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figures, not yet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preview and cost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Untick items before the run; each line is about S$0.22. Vague builds like the Pokémon one cost S$8.9 in refinements after a S$3.43 first build.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Refinement cost 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refine on Sonnet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follow-up edit costs S$0.09 to S$0.20 against S$1.36 for the first build.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(JB build)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Playbooks and quality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missing items and fewer rebuilds; a failing build is not published.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intent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preview midpoint for 59 lines on Opus is S$24 against S$12.80 measured, so it errs high; it needs recalibrating.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HDB renovation build: line-by-line cost</a:t>
            </a:r>
            <a:endParaRPr lang="en-US" sz="3200" dirty="0"/>
          </a:p>
        </p:txBody>
      </p:sp>
      <p:graphicFrame>
        <p:nvGraphicFramePr>
          <p:cNvPr id="9" name="line item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926080"/>
                <a:gridCol w="1645920"/>
                <a:gridCol w="109728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usage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reads pages: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3,264,933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reads pages: 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233,360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 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 / 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new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cache 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3,551,008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$0.40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cache 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540,300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output (the data file and checks)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186,650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our estimate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Code’s own reported 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$2.16 + Opus $7.63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counts are measured (28 Oct build log). Rates: lib/pricing.ts. Ours runs 2.2% above Claude Code’s figure, all in the Opus part.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against API only, same build</a:t>
            </a:r>
            <a:endParaRPr lang="en-US" sz="3200" dirty="0"/>
          </a:p>
        </p:txBody>
      </p:sp>
      <p:sp>
        <p:nvSpPr>
          <p:cNvPr id="3" name="scenario a"/>
          <p:cNvSpPr/>
          <p:nvPr/>
        </p:nvSpPr>
        <p:spPr>
          <a:xfrm>
            <a:off x="548640" y="1371600"/>
            <a:ext cx="5852160" cy="4480560"/>
          </a:xfrm>
          <a:prstGeom prst="roundRect">
            <a:avLst>
              <a:gd name="adj" fmla="val 163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HDB build costs, S$</a:t>
            </a:r>
            <a:endParaRPr lang="en-US" sz="1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965960"/>
          <a:ext cx="5486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50292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bars: S$130 ÷ 4 = S$32.50 a week, times the build’s 7.78M tokens as a share of an assumed weekly token cap. The cap is unpublished, so these are estimates.</a:t>
            </a:r>
            <a:endParaRPr lang="en-US" sz="1200" dirty="0"/>
          </a:p>
        </p:txBody>
      </p:sp>
      <p:sp>
        <p:nvSpPr>
          <p:cNvPr id="7" name="scenario b"/>
          <p:cNvSpPr/>
          <p:nvPr/>
        </p:nvSpPr>
        <p:spPr>
          <a:xfrm>
            <a:off x="6675120" y="1371600"/>
            <a:ext cx="4937760" cy="4480560"/>
          </a:xfrm>
          <a:prstGeom prst="roundRect">
            <a:avLst>
              <a:gd name="adj" fmla="val 163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figures mean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103120"/>
            <a:ext cx="4389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S$130 a month is S$32.50 a week. The build’s 7.78M tokens are 3.5% to 14.1% of an assumed weekly allowance, so about S$1.15 to S$4.60 (mid S$2.30). Limits reset weekly.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key, same run: S$12.51 to S$12.80, billed per build.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S$130 a month, the plan matches the API bill at about 10 large builds a month (S$12.80 each) or 65 small ones (S$2 each).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S$12.51 reported, S$12.80 estimated. Estimated: the plan bars (assumed weekly token cap) and the break-even.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against Claude Code subscription</a:t>
            </a:r>
            <a:endParaRPr lang="en-US" sz="3200" dirty="0"/>
          </a:p>
        </p:txBody>
      </p:sp>
      <p:graphicFrame>
        <p:nvGraphicFramePr>
          <p:cNvPr id="11" name="api vs subscrip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891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F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per use (API key)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subscription (today)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build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S$1.4 to S$12.8 at API prices, billed every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S$130 a month for the plan, however many builds you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shown on pages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estimate from tokens and searches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Estimate, plus the figure Claude Code reports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of the estimate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S$12.80 estimated vs S$12.51 reported (HDB); S$7.19 vs S$6.95 (property)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two checks: our estimate ran 2% to 3% 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grows with every build; budget cap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more builds you run, the more of the plan allowance they use (large builds use more); plan limits reset weekly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Scoping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direct Haiku call if ANTHROPIC_API_KEY is 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through a Plan workflow using the OAuth token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figures exist only for the two 28 Oct builds. Earlier builds have estimates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implementation plans</a:t>
            </a:r>
            <a:endParaRPr lang="en-US" sz="3200" dirty="0"/>
          </a:p>
        </p:txBody>
      </p:sp>
      <p:sp>
        <p:nvSpPr>
          <p:cNvPr id="3" name="plan row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plan tag"/>
          <p:cNvSpPr/>
          <p:nvPr/>
        </p:nvSpPr>
        <p:spPr>
          <a:xfrm>
            <a:off x="731520" y="15544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46304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vague-topic build end to end and check the scope step, the cost range and the quality check on GitHub. Recalibrate the cost preview, which over-estimates large builds.</a:t>
            </a:r>
            <a:endParaRPr lang="en-US" sz="1400" dirty="0"/>
          </a:p>
        </p:txBody>
      </p:sp>
      <p:sp>
        <p:nvSpPr>
          <p:cNvPr id="7" name="plan row"/>
          <p:cNvSpPr/>
          <p:nvPr/>
        </p:nvSpPr>
        <p:spPr>
          <a:xfrm>
            <a:off x="548640" y="230428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plan tag"/>
          <p:cNvSpPr/>
          <p:nvPr/>
        </p:nvSpPr>
        <p:spPr>
          <a:xfrm>
            <a:off x="731520" y="248716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87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39572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API-key agent the estimate and projection kinds, so an API-only setup can build every calculator.</a:t>
            </a:r>
            <a:endParaRPr lang="en-US" sz="1400" dirty="0"/>
          </a:p>
        </p:txBody>
      </p:sp>
      <p:sp>
        <p:nvSpPr>
          <p:cNvPr id="11" name="plan row"/>
          <p:cNvSpPr/>
          <p:nvPr/>
        </p:nvSpPr>
        <p:spPr>
          <a:xfrm>
            <a:off x="548640" y="323697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2" name="plan tag"/>
          <p:cNvSpPr/>
          <p:nvPr/>
        </p:nvSpPr>
        <p:spPr>
          <a:xfrm>
            <a:off x="731520" y="3419856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328416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the price cache on a schedule, so popular topics start with fresh prices and cost less.</a:t>
            </a:r>
            <a:endParaRPr lang="en-US" sz="1400" dirty="0"/>
          </a:p>
        </p:txBody>
      </p:sp>
      <p:sp>
        <p:nvSpPr>
          <p:cNvPr id="15" name="plan row"/>
          <p:cNvSpPr/>
          <p:nvPr/>
        </p:nvSpPr>
        <p:spPr>
          <a:xfrm>
            <a:off x="548640" y="416966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lan tag"/>
          <p:cNvSpPr/>
          <p:nvPr/>
        </p:nvSpPr>
        <p:spPr>
          <a:xfrm>
            <a:off x="731520" y="4352544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3525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261104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kinds, starting with a loan-payment add-on. Health scores, tax and converters stay out of scope.</a:t>
            </a:r>
            <a:endParaRPr lang="en-US" sz="1400" dirty="0"/>
          </a:p>
        </p:txBody>
      </p:sp>
      <p:sp>
        <p:nvSpPr>
          <p:cNvPr id="19" name="plan row"/>
          <p:cNvSpPr/>
          <p:nvPr/>
        </p:nvSpPr>
        <p:spPr>
          <a:xfrm>
            <a:off x="548640" y="510235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20" name="plan tag"/>
          <p:cNvSpPr/>
          <p:nvPr/>
        </p:nvSpPr>
        <p:spPr>
          <a:xfrm>
            <a:off x="731520" y="5285232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5193792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domain, Vercel Pro for commercial use, a monthly budget cap, and whether refinements need a review step.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Proposals, not scheduled work; the last row lists open decisions from earlier in the project.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 and sources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(lib/pricing.ts, checked 27 Oct): Opus 5.5 $4 / $20, Sonnet 5.5 $2 / $10, Haiku 5.5 $0.10 / $0.50 per million tokens; cache reads 10%, cache writes 125%; web search $10 per 1,000.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Currency: SGD 1 = USD 0.78289 (ECB, 29 Sep 2026).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token counts and searches in each build log; Claude Code’s reported cost for the two 28 Oct builds.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Estimated: every S$ figure other than reported ones, the plan-share bars (assumed weekly token cap), the cache savings and the plan break-even.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limits: different topics, one build each, and the Opus lead wrote every build. Build time for large builds was not logged.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Scope-first upgrades are live on main; their gains are design intent until measured.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nexis builder">
  <a:themeElements>
    <a:clrScheme name="Finexis builder">
      <a:dk1>
        <a:srgbClr val="181C1E"/>
      </a:dk1>
      <a:lt1>
        <a:srgbClr val="FFFFFF"/>
      </a:lt1>
      <a:dk2>
        <a:srgbClr val="001F29"/>
      </a:dk2>
      <a:lt2>
        <a:srgbClr val="EEF1F3"/>
      </a:lt2>
      <a:accent1>
        <a:srgbClr val="006781"/>
      </a:accent1>
      <a:accent2>
        <a:srgbClr val="B9EAFF"/>
      </a:accent2>
      <a:accent3>
        <a:srgbClr val="2F6377"/>
      </a:accent3>
      <a:accent4>
        <a:srgbClr val="C2410C"/>
      </a:accent4>
      <a:accent5>
        <a:srgbClr val="3F484D"/>
      </a:accent5>
      <a:accent6>
        <a:srgbClr val="D5DADD"/>
      </a:accent6>
      <a:hlink>
        <a:srgbClr val="006781"/>
      </a:hlink>
      <a:folHlink>
        <a:srgbClr val="2F6377"/>
      </a:folHlink>
    </a:clrScheme>
    <a:fontScheme name="Finexis build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FinWebBuilder: changes since Monday</dc:title>
  <dc:subject>PptxGenJS Presentation</dc:subject>
  <dc:creator>Claude for Kumar</dc:creator>
  <cp:lastModifiedBy>Claude for Kumar</cp:lastModifiedBy>
  <cp:revision>1</cp:revision>
  <dcterms:created xsi:type="dcterms:W3CDTF">2026-10-29T05:38:24Z</dcterms:created>
  <dcterms:modified xsi:type="dcterms:W3CDTF">2026-10-29T05:38:24Z</dcterms:modified>
</cp:coreProperties>
</file>